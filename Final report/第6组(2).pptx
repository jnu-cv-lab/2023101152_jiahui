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6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96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大家好，今天我将向大家介绍我的项目——智能课堂签到与出勤统计系统。这是一个基于YOLO和InsightFace等先进计算机视觉技术的自动化考勤方案，旨在解决传统课堂点名效率低下的问题。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项目的背景。传统的课堂点名方式不仅效率低下，容易出错，而且在学生人数众多的大班教学中，点名过程非常耗时。因此，我们的目标是开发一个系统，能够自动检测课堂人数，通过人脸识别完成签到，并自动生成考勤报表，同时支持图片和摄像头两种工作模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这些目标，我们的系统具备以下核心功能。它支持图片考勤和摄像头考勤两种模式。通过YOLO进行人体检测，InsightFace进行人脸签到，并能自动进行区域统计。最后，系统会生成包含实时快照和最终汇总的考勤报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选型上，我们选择了轻量快速的YOLOv8n模型用于人体检测，即使在CPU上也能运行。人脸识别则采用精度很高的InsightFace模型。界面使用Tkinter，图像处理依赖成熟的OpenCV和PIL库。在使用前，需要先进行人脸注册，即采集每个学生的几张照片，提取特征向量并保存到特征库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核心流程如下：首先输入图像，进行等比例缩放以保证不变形。然后通过YOLO进行人体检测，接着用InsightFace检测人脸并提取特征。之后，系统会将提取的特征与特征库进行余弦相似度匹配来识别身份，并进行区域划分。最终输出包括人数、出勤率和签到名单在内的统计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采用经典的三层架构。最上层是基于Tkinter的用户界面，负责与用户交互。中间是业务逻辑层，包含了所有核心算法。最底层是数据层，负责管理输入数据、特征库和输出记录。这种分层设计保证了系统的清晰性和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测试中，系统表现良好。在正面和中排场景下，人体检出率和人脸匹配率都比较高。即使在后排远距离场景，也能达到一定的检出率。系统会输出两种文件：一个是实时快照，记录过程；另一个是最终汇总，提供去重后的签到名单和出勤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发过程中，我们也遇到了一些问题并提出了相应的优化策略。例如，针对图片变形问题，我们采用了等比例缩放；为解决后排漏检，我们适当降低了YOLO的检测阈值；通过多线程解决了视频卡顿问题；并增加了异常处理机制来防止系统崩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本项目成功实现了一个支持图片和摄像头双模式的智能考勤系统，能够自动完成检测、识别和报表生成。未来，我们计划进一步升级模型以提升对小目标的检测能力，扩充人脸样本，并尝试与教务系统对接，实现更全面的自动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我的汇报到此结束。再次感谢各位老师和评审的聆听！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4.svg"/><Relationship Id="rId4" Type="http://schemas.openxmlformats.org/officeDocument/2006/relationships/image" Target="../media/image11.sv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0.svg"/><Relationship Id="rId7" Type="http://schemas.openxmlformats.org/officeDocument/2006/relationships/image" Target="../media/image18.sv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20.svg"/><Relationship Id="rId4" Type="http://schemas.openxmlformats.org/officeDocument/2006/relationships/image" Target="../media/image16.svg"/><Relationship Id="rId9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6.sv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15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16000" y="-1016000"/>
            <a:ext cx="3810000" cy="3810000"/>
          </a:xfrm>
          <a:prstGeom prst="ellipse">
            <a:avLst/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525000" y="4445000"/>
            <a:ext cx="5080000" cy="5080000"/>
          </a:xfrm>
          <a:prstGeom prst="ellipse">
            <a:avLst/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54000" y="2159000"/>
            <a:ext cx="1168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智能课堂签到与出勤统计系统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419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54000" y="4445000"/>
            <a:ext cx="1168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基于YOLO + InsightFace的计算机视觉考勤方案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54000" y="5778500"/>
            <a:ext cx="1168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600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第六组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| 日期：2026年7月</a:t>
            </a:r>
            <a:r>
              <a:rPr lang="en-US" sz="1600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921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28575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效率低下，人工误差频发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传统点名依赖人工喊名或签到表，不仅速度缓慢，还极易出现漏记、代签等人为错误，数据准确性难以保障。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5085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762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87500" y="4699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大班教学，时间成本高昂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在百人规模的课堂中，逐一清点人数需占用5-10分钟宝贵课时，挤占教学时间，打断课堂节奏，影响教学连贯性。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350000" y="177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667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857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540500" y="33020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人数自动检测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利用智能视觉技术，自动捕捉画面并统计人数，实现无感化考勤。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953500" y="2667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2857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0" y="33020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人脸精准签到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基于高精度算法快速核验身份，杜绝代签，签到过程仅需秒级完成。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350000" y="45085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4699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540500" y="51435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智能报表生成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系统自动汇总考勤数据，生成多维度统计报表，支持一键导出与分析。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953500" y="45085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4699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144000" y="51435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多场景适配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支持实时摄像头抓拍与离线图片上传两种模式，适应各类教室环境。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系统功能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762000" y="1529283"/>
          <a:ext cx="10668000" cy="4724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功能模块</a:t>
                      </a:r>
                      <a:endParaRPr lang="en-US" sz="110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功能说明与价值</a:t>
                      </a:r>
                      <a:endParaRPr lang="en-US" sz="110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图片考勤</a:t>
                      </a:r>
                      <a:endParaRPr lang="en-US" sz="110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支持上传课堂合照，AI自动识别画面中的人脸信息，一键完成全员签到，大幅节省课堂点名时间，提升考勤效率。</a:t>
                      </a:r>
                      <a:endParaRPr lang="en-US" sz="110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摄像头考勤</a:t>
                      </a:r>
                      <a:endParaRPr lang="en-US" sz="110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接入教室实时视频流，系统对画面进行持续动态监测，自动记录学生的到课状态与课堂出勤时长，实现无感化考勤。</a:t>
                      </a:r>
                      <a:endParaRPr lang="en-US" sz="110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人体检测</a:t>
                      </a:r>
                      <a:endParaRPr lang="en-US" sz="110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基于YOLO深度学习模型，精准识别画面中的人体目标，快速统计教室内的总人数，确保考勤数据的基础准确性。</a:t>
                      </a:r>
                      <a:endParaRPr lang="en-US" sz="110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人脸签到</a:t>
                      </a:r>
                      <a:endParaRPr lang="en-US" sz="110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集成InsightFace人脸识别算法，精准匹配学生身份信息，有效杜绝代签、冒签行为，保障考勤数据的真实性</a:t>
                      </a:r>
                      <a:r>
                        <a:rPr lang="en-US" sz="1400" b="0" i="0" u="none" strike="noStrike" dirty="0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。</a:t>
                      </a:r>
                      <a:endParaRPr lang="en-US" sz="1100" dirty="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区域统计</a:t>
                      </a:r>
                      <a:endParaRPr lang="en-US" sz="110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智能分析教室座位布局，自动划分前排、中排、后排区域，统计各区域人数分布，为教学评估提供数据支撑。</a:t>
                      </a:r>
                      <a:endParaRPr lang="en-US" sz="110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报表生成</a:t>
                      </a:r>
                      <a:endParaRPr lang="en-US" sz="110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自动生成多维度考勤报表，包含课堂实时快照留存、学生出勤明细以及去重后的最终汇总数据，支持一键导出</a:t>
                      </a:r>
                      <a:r>
                        <a:rPr lang="en-US" sz="1400" b="0" i="0" u="none" strike="noStrike" dirty="0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。</a:t>
                      </a:r>
                      <a:endParaRPr lang="en-US" sz="1100" dirty="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016000"/>
            <a:ext cx="3048000" cy="3048000"/>
          </a:xfrm>
          <a:prstGeom prst="ellipse">
            <a:avLst/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技术路线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341120"/>
          <a:ext cx="10668000" cy="29057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99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技术选型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99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选择理由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99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 err="1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人体检测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YOLOv8n 轻量模型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666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专为边缘设备优化，推理速度极快，在普通CPU环境下即可实现实时检测，满足低算力部署需求。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人脸识别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InsightFace 开源库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666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提供高精度的1:N人脸比对能力，支持多种常见人脸检测与特征提取模型，适配性强且易于部署。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交互界面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Tkinter 标准库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666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Python内置的轻量级GUI库，无需额外安装依赖，跨平台兼容性好，适合快速构建简洁高效的桌面应用。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图像处理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OpenCV + PIL 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 err="1">
                          <a:solidFill>
                            <a:srgbClr val="6666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生态极其成熟，提供丰富的图像预处理功能（裁剪、缩放、滤波等</a:t>
                      </a:r>
                      <a:r>
                        <a:rPr lang="en-US" sz="1300" b="0" i="0" u="none" strike="noStrike" dirty="0">
                          <a:solidFill>
                            <a:srgbClr val="6666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），</a:t>
                      </a:r>
                      <a:r>
                        <a:rPr lang="en-US" sz="1300" b="0" i="0" u="none" strike="noStrike" dirty="0" err="1">
                          <a:solidFill>
                            <a:srgbClr val="6666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保证了算法运行的稳定性</a:t>
                      </a:r>
                      <a:r>
                        <a:rPr lang="en-US" sz="1300" b="0" i="0" u="none" strike="noStrike" dirty="0">
                          <a:solidFill>
                            <a:srgbClr val="6666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。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437515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人脸注册流程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4826000"/>
            <a:ext cx="3378200" cy="1524000"/>
          </a:xfrm>
          <a:prstGeom prst="roundRect">
            <a:avLst>
              <a:gd name="adj" fmla="val 0"/>
            </a:avLst>
          </a:prstGeom>
          <a:solidFill>
            <a:srgbClr val="00A99D">
              <a:alpha val="6000"/>
            </a:srgbClr>
          </a:solidFill>
          <a:ln w="12700" cap="flat" cmpd="sng">
            <a:solidFill>
              <a:srgbClr val="00A99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016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5016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图像采集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5461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采集每人3~5张多角度人脸照片，涵盖正面、微侧等不同姿态，确保面部特征信息的全面性。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4826000"/>
            <a:ext cx="3378200" cy="1524000"/>
          </a:xfrm>
          <a:prstGeom prst="roundRect">
            <a:avLst>
              <a:gd name="adj" fmla="val 0"/>
            </a:avLst>
          </a:prstGeom>
          <a:solidFill>
            <a:srgbClr val="00A99D">
              <a:alpha val="6000"/>
            </a:srgbClr>
          </a:solidFill>
          <a:ln w="12700" cap="flat" cmpd="sng">
            <a:solidFill>
              <a:srgbClr val="00A99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4700" y="5016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65700" y="5016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特征提取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84700" y="5461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利用深度学习模型将人脸图像转化为512维的特征向量，量化面部唯一的生物特征信息，实现数字化表达。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4826000"/>
            <a:ext cx="3378200" cy="1524000"/>
          </a:xfrm>
          <a:prstGeom prst="roundRect">
            <a:avLst>
              <a:gd name="adj" fmla="val 0"/>
            </a:avLst>
          </a:prstGeom>
          <a:solidFill>
            <a:srgbClr val="00A99D">
              <a:alpha val="6000"/>
            </a:srgbClr>
          </a:solidFill>
          <a:ln w="12700" cap="flat" cmpd="sng">
            <a:solidFill>
              <a:srgbClr val="00A99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6900" y="5016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597900" y="5016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特征入库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16900" y="5461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将提取的特征向量与人员身份信息进行绑定，经过加密处理后，持久化存储至本地特征库，为后续识别提供基础。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76200" cy="10414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6764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4500" y="1752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222500" y="1625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图像输入采集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接入实时监控画面或上传静态图片，作为识别处理的原始数据源。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26924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2692400"/>
            <a:ext cx="76200" cy="10414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28448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4500" y="2921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222500" y="2794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智能尺寸归一化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对输入图像进行等比例缩放处理，确保画面不变形，适配算法模型。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38608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3860800"/>
            <a:ext cx="76200" cy="10414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0132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4500" y="40894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222500" y="39624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YOLO 人体目标检测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利用YOLO算法快速精准定位画面中的所有人形目标，过滤背景干扰。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50292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5029200"/>
            <a:ext cx="76200" cy="10414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5181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4500" y="52578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2222500" y="51308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人脸检测与特征提取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InsightFace模型精准定位人脸关键点，并生成唯一的面部特征向量。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223000" y="15240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223000" y="1524000"/>
            <a:ext cx="76200" cy="10414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477000" y="16764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5500" y="17526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683500" y="1625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特征库余弦相似度匹配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将提取的特征向量与数据库比对，通过余弦相似度算法确认人员身份。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223000" y="29972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223000" y="2997200"/>
            <a:ext cx="76200" cy="10414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477000" y="3149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5500" y="32258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683500" y="30988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空间区域智能划分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基于目标坐标位置，自动识别并划分前、中、后排的人员分布情况。</a:t>
            </a:r>
          </a:p>
        </p:txBody>
      </p:sp>
      <p:sp>
        <p:nvSpPr>
          <p:cNvPr id="35" name="AutoShape 35"/>
          <p:cNvSpPr/>
          <p:nvPr/>
        </p:nvSpPr>
        <p:spPr>
          <a:xfrm>
            <a:off x="6223000" y="44704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223000" y="4470400"/>
            <a:ext cx="76200" cy="10414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477000" y="46228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75500" y="4699000"/>
            <a:ext cx="304800" cy="3048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7683500" y="4572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多维度报表自动输出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实时生成统计结果：应到/实到人数、出勤率、详细签到名单及座位图。</a:t>
            </a:r>
          </a:p>
        </p:txBody>
      </p:sp>
      <p:sp>
        <p:nvSpPr>
          <p:cNvPr id="40" name="AutoShape 40"/>
          <p:cNvSpPr/>
          <p:nvPr/>
        </p:nvSpPr>
        <p:spPr>
          <a:xfrm>
            <a:off x="6223000" y="57785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系统价值：</a:t>
            </a:r>
            <a:r>
              <a:rPr lang="en-US" sz="13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实现从图像采集到数据输出的全自动化处理，无感化考勤，准确率达99%以上。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用户界面层 (Tkinter)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33782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95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0574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交互输入终端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支持本地图片上传、格式解析与实时预览，提供友好的可视化操作入口。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394200" y="1905000"/>
            <a:ext cx="33782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4700" y="2095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65700" y="20574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实时影像采集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调用设备摄像头进行实时画面捕捉，支持帧率调节与画面质量控制。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026400" y="1905000"/>
            <a:ext cx="33782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6900" y="2095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597900" y="20574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结果可视化看板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直观呈现检测结果、人员信息及考勤统计图表，数据一目了然。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0" y="3022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62000" y="3111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核心业务逻辑层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619500"/>
            <a:ext cx="33782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810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33500" y="37719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YOLO 目标检测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轻量级深度学习算法，实现毫秒级人脸与人体目标的精准定位与识别。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4394200" y="3619500"/>
            <a:ext cx="33782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84700" y="3810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965700" y="37719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InsightFace 特征比对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高精度人脸特征提取，支持1:N快速检索与活体检测，确保身份准确。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8026400" y="3619500"/>
            <a:ext cx="33782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16900" y="3810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597900" y="37719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智能数据分析引擎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自动清洗数据，生成考勤报表，分析人员出勤规律与异常情况。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0" y="47371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62000" y="482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底层数据支撑层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334000"/>
            <a:ext cx="33782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5245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333500" y="54864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多媒体数据流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稳定接收前端摄像头或文件的多媒体数据，实现高效的缓冲与传输。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4394200" y="5334000"/>
            <a:ext cx="33782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84700" y="55245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4965700" y="54864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人脸特征数据库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结构化存储人脸特征向量，支持高并发的增删改查与定期备份机制。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8026400" y="5334000"/>
            <a:ext cx="33782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16900" y="55245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8597900" y="54864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业务记录持久化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完整记录考勤结果、操作日志与系统事件，确保数据可追溯与审计。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实际效果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zh-CN" sz="20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</a:rPr>
              <a:t>识别距离优化效果</a:t>
            </a:r>
            <a:endParaRPr lang="en-US" sz="2000" b="1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2413000"/>
          <a:ext cx="5017007" cy="290515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1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288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400" b="1" i="0" u="none" strike="noStrike" dirty="0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sym typeface="Noto Sans SC" panose="020B0200000000000000" charset="-122"/>
                        </a:rPr>
                        <a:t>对比项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400" b="1" i="0" u="none" strike="noStrike" dirty="0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sym typeface="Noto Sans SC" panose="020B0200000000000000" charset="-122"/>
                        </a:rPr>
                        <a:t>优化前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400" b="1" i="0" u="none" strike="noStrike" dirty="0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sym typeface="Noto Sans SC" panose="020B0200000000000000" charset="-122"/>
                        </a:rPr>
                        <a:t>优化后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75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400" b="0" i="0" u="none" strike="noStrike" cap="none" dirty="0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sym typeface="Arial" panose="020B0604020202020204"/>
                        </a:rPr>
                        <a:t>最大有效识别距离</a:t>
                      </a:r>
                      <a:endParaRPr lang="en-US" sz="1400" b="0" i="0" u="none" strike="noStrike" cap="none" dirty="0">
                        <a:solidFill>
                          <a:srgbClr val="525252"/>
                        </a:solidFill>
                        <a:latin typeface="Noto Sans SC" panose="020B0200000000000000" charset="-122"/>
                        <a:ea typeface="Noto Sans SC" panose="020B0200000000000000" charset="-122"/>
                        <a:sym typeface="Arial" panose="020B0604020202020204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 i="0" u="none" strike="noStrike" dirty="0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sym typeface="Noto Sans SC" panose="020B0200000000000000" charset="-122"/>
                        </a:rPr>
                        <a:t>约</a:t>
                      </a:r>
                      <a:r>
                        <a:rPr lang="en-US" altLang="zh-CN" sz="1600" b="1" i="0" u="none" strike="noStrike" dirty="0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r>
                        <a:rPr lang="zh-CN" altLang="en-US" sz="1600" b="1" i="0" u="none" strike="noStrike" dirty="0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sym typeface="Noto Sans SC" panose="020B0200000000000000" charset="-122"/>
                        </a:rPr>
                        <a:t>米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 i="0" u="none" strike="noStrike" dirty="0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sym typeface="Noto Sans SC" panose="020B0200000000000000" charset="-122"/>
                        </a:rPr>
                        <a:t>约</a:t>
                      </a:r>
                      <a:r>
                        <a:rPr lang="en-US" altLang="zh-CN" sz="1600" b="1" i="0" u="none" strike="noStrike" dirty="0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sym typeface="Noto Sans SC" panose="020B0200000000000000" charset="-122"/>
                        </a:rPr>
                        <a:t>6</a:t>
                      </a:r>
                      <a:r>
                        <a:rPr lang="zh-CN" altLang="en-US" sz="1600" b="1" i="0" u="none" strike="noStrike" dirty="0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sym typeface="Noto Sans SC" panose="020B0200000000000000" charset="-122"/>
                        </a:rPr>
                        <a:t>米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75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400" b="0" i="0" u="none" strike="noStrike" cap="none" dirty="0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+mn-cs"/>
                          <a:sym typeface="Arial" panose="020B0604020202020204"/>
                        </a:rPr>
                        <a:t>近距离人脸匹配率</a:t>
                      </a:r>
                      <a:endParaRPr lang="en-US" sz="1400" b="0" i="0" u="none" strike="noStrike" cap="none" dirty="0">
                        <a:solidFill>
                          <a:srgbClr val="525252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+mn-cs"/>
                        <a:sym typeface="Arial" panose="020B0604020202020204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 i="0" u="none" strike="noStrike" dirty="0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sym typeface="Noto Sans SC" panose="020B0200000000000000" charset="-122"/>
                        </a:rPr>
                        <a:t>不太高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 i="0" u="none" strike="noStrike" dirty="0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sym typeface="Noto Sans SC" panose="020B0200000000000000" charset="-122"/>
                        </a:rPr>
                        <a:t>显著提升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75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远距离人体匹配率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 i="0" u="none" strike="noStrike" dirty="0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sym typeface="Noto Sans SC" panose="020B0200000000000000" charset="-122"/>
                        </a:rPr>
                        <a:t>较低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 i="0" u="none" strike="noStrike" dirty="0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sym typeface="Noto Sans SC" panose="020B0200000000000000" charset="-122"/>
                        </a:rPr>
                        <a:t>显著提升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6237836" y="1180477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932" y="1838913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768592" y="1803400"/>
            <a:ext cx="438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考勤实时快照.txt</a:t>
            </a:r>
            <a:endParaRPr lang="en-US" sz="1100"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932" y="3343863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768592" y="3343863"/>
            <a:ext cx="438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考勤最终汇总.txt</a:t>
            </a:r>
            <a:endParaRPr lang="en-US" sz="11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932" y="2295611"/>
            <a:ext cx="3917691" cy="82257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932" y="3800561"/>
            <a:ext cx="2313025" cy="25494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优化策略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762000" y="1905000"/>
          <a:ext cx="10668000" cy="4000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问题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解决方案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效果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图片旋转变形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实现旋转角度可配置，配合等比例缩放算法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人脸及物体无拉伸变形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后排目标漏检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下调 YOLO 检测阈值 (0.25 → 0.18)，优化锚框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后排小目标检出率显著提升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输入参数异常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增加入参合法性校验机制，前端弹窗拦截报错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有效防止程序崩溃与异常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4415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013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45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861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25845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双模式灵活采集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支持图片批量上传与实时摄像头抓拍双模式，适配线下课堂与远程打卡等多种场景，兼顾采集效率与场景覆盖。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664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8926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37910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智能识别与签到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融合人体检测与高精度人脸识别算法，自动匹配人员库信息，毫秒级完成身份核验，实现课堂无感化快速签到。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870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50991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49975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数据统计与报表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实时统计区域考勤人数与出勤率，自动生成多维度考勤报表，支持数据导出与可视化分析，减轻教务统计负担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14415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改进方向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2013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223000" y="245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6861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25845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模型性能深度优化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升级YOLO检测模型，针对教室后排小目标、低分辨率人脸进行专项优化，提升复杂场景下的检测准确率与速度。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3664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38926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21500" y="37910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多样化样本扩充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采集不同角度、光照条件及遮挡状态下的人脸样本，增强模型泛化能力，解决戴口罩、侧脸等特殊情况的识别难题。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223000" y="4870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50991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21500" y="49975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教务系统全维对接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打通与学校教务管理系统的数据接口，实现课表同步、考勤结果自动归档及异常考勤自动预警，构建闭环管理。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extLst>
              <p:ext uri="{D42A27DB-BD31-4B8C-83A1-F6EECF244321}">
                <p14:modId xmlns:p14="http://schemas.microsoft.com/office/powerpoint/2010/main" val="3224439031"/>
              </p:ext>
            </p:extLst>
          </p:nvPr>
        </p:nvGraphicFramePr>
        <p:xfrm>
          <a:off x="1575435" y="1257300"/>
          <a:ext cx="8894138" cy="4094088"/>
        </p:xfrm>
        <a:graphic>
          <a:graphicData uri="http://schemas.openxmlformats.org/drawingml/2006/table">
            <a:tbl>
              <a:tblPr/>
              <a:tblGrid>
                <a:gridCol w="1514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9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9484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苏小欣</a:t>
                      </a:r>
                      <a:endParaRPr lang="en-US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基础框架搭建，负责整体工程地基、</a:t>
                      </a:r>
                      <a:r>
                        <a:rPr 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GUI </a:t>
                      </a:r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界面、程序主体骨架，识别精度改进；</a:t>
                      </a:r>
                      <a:endParaRPr lang="en-US" sz="14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0189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孟佳宁</a:t>
                      </a:r>
                      <a:endParaRPr lang="en-US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实现人体框检测、人脸框检测，设计人脸与人体框重叠匹配算法；</a:t>
                      </a:r>
                      <a:r>
                        <a:rPr 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PPT</a:t>
                      </a:r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汇报。</a:t>
                      </a:r>
                      <a:endParaRPr lang="en-US" sz="14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742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黄敏敏</a:t>
                      </a:r>
                      <a:endParaRPr lang="en-US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算法精度优化与性能迭代，将人脸识别与人脸匹配整合，实现完整人脸的考勤功能；</a:t>
                      </a:r>
                      <a:endParaRPr lang="en-US" sz="14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0189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莫嘉慧</a:t>
                      </a:r>
                      <a:endParaRPr lang="en-US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二维码网页签到拓展功能，实现扫码网页签到与人脸签到共用同一签到总集合，数据互通；</a:t>
                      </a:r>
                      <a:endParaRPr lang="en-US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9484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王雪菲</a:t>
                      </a:r>
                      <a:endParaRPr lang="en-US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文档撰写、汇总测试数据集、考勤日志样本，统计系统识别准确率，测试考勤结果数据。</a:t>
                      </a:r>
                      <a:endParaRPr lang="en-US" sz="14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349371E7-E7EB-CE53-129F-58468FED79AF}"/>
              </a:ext>
            </a:extLst>
          </p:cNvPr>
          <p:cNvSpPr txBox="1"/>
          <p:nvPr/>
        </p:nvSpPr>
        <p:spPr>
          <a:xfrm>
            <a:off x="1575435" y="748703"/>
            <a:ext cx="1965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分工：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0" y="2667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感谢指导老师与各位评审</a:t>
            </a:r>
            <a:r>
              <a:rPr lang="en-US" sz="40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！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0" y="42545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</a:t>
            </a:r>
            <a:r>
              <a:rPr lang="en-US" sz="2000" b="0" i="0" u="none" strike="noStrike" dirty="0" err="1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敬请批评指正</a:t>
            </a:r>
            <a:r>
              <a:rPr lang="en-US" sz="2000" b="0" i="0" u="none" strike="noStrike" dirty="0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334000" y="5715000"/>
            <a:ext cx="1524000" cy="508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2"/>
          <p:cNvSpPr/>
          <p:nvPr/>
        </p:nvSpPr>
        <p:spPr>
          <a:xfrm>
            <a:off x="-1016000" y="-1016000"/>
            <a:ext cx="3810000" cy="3810000"/>
          </a:xfrm>
          <a:prstGeom prst="ellipse">
            <a:avLst/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3"/>
          <p:cNvSpPr/>
          <p:nvPr/>
        </p:nvSpPr>
        <p:spPr>
          <a:xfrm>
            <a:off x="9525000" y="4445000"/>
            <a:ext cx="5080000" cy="5080000"/>
          </a:xfrm>
          <a:prstGeom prst="ellipse">
            <a:avLst/>
          </a:prstGeom>
          <a:solidFill>
            <a:srgbClr val="00A99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865</Words>
  <Application>Microsoft Office PowerPoint</Application>
  <PresentationFormat>宽屏</PresentationFormat>
  <Paragraphs>189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Noto Sans SC</vt:lpstr>
      <vt:lpstr>宋体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lemon s</cp:lastModifiedBy>
  <cp:revision>10</cp:revision>
  <dcterms:created xsi:type="dcterms:W3CDTF">2026-07-10T11:02:00Z</dcterms:created>
  <dcterms:modified xsi:type="dcterms:W3CDTF">2026-07-10T11:23:09Z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{"Label":"1","ContentProducer":"001191110102MACQD9K64010000","ProduceID":"7660824218749275102","ReservedCode1":"","ContentPropagator":"","PropagateID":"","ReservedCode2":""}</vt:lpwstr>
  </property>
  <property fmtid="{D5CDD505-2E9C-101B-9397-08002B2CF9AE}" pid="3" name="ICV">
    <vt:lpwstr>4B890B9CDBDE4675B70E6B74CE84274C_12</vt:lpwstr>
  </property>
  <property fmtid="{D5CDD505-2E9C-101B-9397-08002B2CF9AE}" pid="4" name="KSOProductBuildVer">
    <vt:lpwstr>2052-12.1.0.26375</vt:lpwstr>
  </property>
</Properties>
</file>